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T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363DECE-CA3D-4D70-80AE-F10586CC6C6D}" type="slidenum">
              <a:rPr lang="en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F5CC79-DA8B-48FC-8E3B-5BEDA1861B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6B7AF1-5DAF-4A67-BDF5-FF1B9A2F24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B755BA-0CA8-4D8D-8189-7D9B7BE7F9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95819C-B046-4E05-B41D-A90C39EC4B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D37EA9-F759-4FEF-843C-108EDE5F16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5B2B47-3421-41CD-9C50-93548736EE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25E7F6-3F8D-443A-94A9-3B4EF0BAD3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283761-9242-43BD-BB73-316F343218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010CCB-CE8C-4614-99FF-DB7AEEA578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8C3825-ABA8-4D42-82A7-F1751E2E92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157241-AF00-4362-9327-41D25144A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3B8EA5-ECF5-430E-9223-308CBBD456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0010E0-CC4B-4B49-BA26-6ACCB7F3DC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66F4A-F39B-48A9-8050-35733097DF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T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T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T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T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61160" cy="16416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1005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pc="799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BMT218 VERİ BİLİMİNE GİRİŞ PROJESİ</a:t>
            </a:r>
            <a:endParaRPr lang="en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1554480"/>
            <a:ext cx="109724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Biyokimyasal ve Biyoempedans</a:t>
            </a:r>
            <a:endParaRPr lang="en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Verileriyle Safra Taşı Hastalığının</a:t>
            </a:r>
            <a:endParaRPr lang="en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Makine Öğrenmesi Tabanlı Tahmini</a:t>
            </a:r>
            <a:endParaRPr lang="en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40080" y="4206240"/>
            <a:ext cx="3657600" cy="360"/>
          </a:xfrm>
          <a:prstGeom prst="line">
            <a:avLst/>
          </a:prstGeom>
          <a:ln w="2540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443484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Emirhan FIRTINA</a:t>
            </a:r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24181616030@gazi.edu.tr</a:t>
            </a:r>
            <a:endParaRPr lang="en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217920" y="443484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Mehmet Akif SOYSAL</a:t>
            </a:r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24181617005@gazi.edu.tr</a:t>
            </a:r>
            <a:endParaRPr lang="en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60350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Gazi Üniversitesi  |  Bilgisayar Mühendisliği  |  2026</a:t>
            </a:r>
            <a:endParaRPr lang="en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Ajanda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31520" y="146304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31520" y="14630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463040" y="14630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Problem &amp; Motivasyon</a:t>
            </a:r>
            <a:endParaRPr lang="en-T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463040" y="17557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Safra taşının klinik önemi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731520" y="224028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73152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463040" y="22402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Veri Seti</a:t>
            </a:r>
            <a:endParaRPr lang="en-T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463040" y="253296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UCI Gallstone (319 kayıt, 38 özellik)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731520" y="301752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731520" y="30175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463040" y="30175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Yöntem</a:t>
            </a:r>
            <a:endParaRPr lang="en-T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463040" y="3310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10 farklı algoritma, çapraz doğrulama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731520" y="379476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731520" y="37947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463040" y="37947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Sonuçlar</a:t>
            </a:r>
            <a:endParaRPr lang="en-T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1463040" y="40874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Performans karşılaştırması ve metrikler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731520" y="457200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31520" y="4572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1463040" y="45720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Yorumlanabilirlik</a:t>
            </a:r>
            <a:endParaRPr lang="en-T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1463040" y="48646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Özellik önemleri &amp; SHAP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731520" y="534924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731520" y="5349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1463040" y="53492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Sonuç &amp; Gelecek Çalışmalar</a:t>
            </a:r>
            <a:endParaRPr lang="en-T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1463040" y="56419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Klinik kullanım önerileri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8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Problem ve Motivasyon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40080" y="1371600"/>
            <a:ext cx="5486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Safra Taşı (Kolelitiazis) nedir?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Safra kesesi veya safra yollarında kolesterol/bilirubin kristallerinin birikimiyle oluşan yaygın bir hepatobiliyer rahatsızlık.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640080" y="3108960"/>
            <a:ext cx="54860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Klinik gerçeklik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• Hastaların önemli kısmı uzun süre belirti vermez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• İlk tablo bazen kolesistit / pankreatit gibi komplikasyonla başlar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• Tanı için ultrason, BT veya MRCP gerekir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6675120" y="1371600"/>
            <a:ext cx="5028840" cy="4754520"/>
          </a:xfrm>
          <a:prstGeom prst="roundRect">
            <a:avLst>
              <a:gd name="adj" fmla="val 2885"/>
            </a:avLst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6949440" y="164592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1" u="none" spc="400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BİZİM YAKLAŞIMIMIZ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Görüntüleme yapılmadan,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yalnızca rutin biyokimya ve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biyoempedans verileriyle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erken risk tahmini.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4F8F8"/>
                </a:solidFill>
                <a:effectLst/>
                <a:uFillTx/>
                <a:latin typeface="Calibri"/>
                <a:ea typeface="Calibri"/>
              </a:rPr>
              <a:t>→ Düşük maliyet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4F8F8"/>
                </a:solidFill>
                <a:effectLst/>
                <a:uFillTx/>
                <a:latin typeface="Calibri"/>
                <a:ea typeface="Calibri"/>
              </a:rPr>
              <a:t>→ Hızlı tarama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4F8F8"/>
                </a:solidFill>
                <a:effectLst/>
                <a:uFillTx/>
                <a:latin typeface="Calibri"/>
                <a:ea typeface="Calibri"/>
              </a:rPr>
              <a:t>→ Operatörden bağımsız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Araştırma Soruları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914400" y="1554480"/>
            <a:ext cx="914040" cy="914040"/>
          </a:xfrm>
          <a:prstGeom prst="ellipse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914400" y="155448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T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2194560" y="16002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Hangi algoritma daha başarılı?</a:t>
            </a:r>
            <a:endParaRPr lang="en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2194560" y="2103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10 farklı algoritma karşılaştırılmıştır.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914400" y="3017520"/>
            <a:ext cx="914040" cy="914040"/>
          </a:xfrm>
          <a:prstGeom prst="ellipse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914400" y="301752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T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2194560" y="306324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Doğruluk yeterli mi?</a:t>
            </a:r>
            <a:endParaRPr lang="en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2194560" y="35661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Klinik bağlamda duyarlılık ve ROC-AUC da kritiktir.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914400" y="4480560"/>
            <a:ext cx="914040" cy="914040"/>
          </a:xfrm>
          <a:prstGeom prst="ellipse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914400" y="448056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T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2194560" y="45262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Hangi değişkenler belirleyici?</a:t>
            </a:r>
            <a:endParaRPr lang="en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2194560" y="50292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Özellik önemi ve SHAP ile incelendi.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Veri Seti: UCI Gallstone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640080" y="1371600"/>
            <a:ext cx="246852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640080" y="15087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319</a:t>
            </a:r>
            <a:endParaRPr lang="en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640080" y="21488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Kayıt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383280" y="1371600"/>
            <a:ext cx="246852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3383280" y="15087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3383280" y="21488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Bağımsız değişken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640080" y="2743200"/>
            <a:ext cx="246852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640080" y="28803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640080" y="35204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Eksik değer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3383280" y="2743200"/>
            <a:ext cx="246852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3383280" y="28803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161/158</a:t>
            </a:r>
            <a:endParaRPr lang="en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3383280" y="35204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Sınıf dengesi (var/yok)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6400800" y="137160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DEĞİŞKEN KATEGORİLERİ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6400800" y="1828800"/>
            <a:ext cx="136800" cy="731160"/>
          </a:xfrm>
          <a:prstGeom prst="rect">
            <a:avLst/>
          </a:prstGeom>
          <a:solidFill>
            <a:srgbClr val="5DAD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6675120" y="18288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Demografik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6675120" y="21488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Yaş, cinsiyet, eşlik eden hastalıklar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9"/>
          <p:cNvSpPr/>
          <p:nvPr/>
        </p:nvSpPr>
        <p:spPr>
          <a:xfrm>
            <a:off x="6400800" y="2651760"/>
            <a:ext cx="136800" cy="731160"/>
          </a:xfrm>
          <a:prstGeom prst="rect">
            <a:avLst/>
          </a:prstGeom>
          <a:solidFill>
            <a:srgbClr val="48C9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6675120" y="2651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Vücut kompozisyonu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6675120" y="29718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VKİ, yağ oranı, kas kütlesi, ECF/TBW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6400800" y="3474720"/>
            <a:ext cx="136800" cy="731160"/>
          </a:xfrm>
          <a:prstGeom prst="rect">
            <a:avLst/>
          </a:prstGeom>
          <a:solidFill>
            <a:srgbClr val="F5B0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6675120" y="34747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Lipit profili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6675120" y="3794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Total kolesterol, LDL, HDL, trigliserit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5"/>
          <p:cNvSpPr/>
          <p:nvPr/>
        </p:nvSpPr>
        <p:spPr>
          <a:xfrm>
            <a:off x="6400800" y="4297680"/>
            <a:ext cx="136800" cy="7311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6"/>
          <p:cNvSpPr/>
          <p:nvPr/>
        </p:nvSpPr>
        <p:spPr>
          <a:xfrm>
            <a:off x="6675120" y="42976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Karaciğer fonksiyon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7"/>
          <p:cNvSpPr/>
          <p:nvPr/>
        </p:nvSpPr>
        <p:spPr>
          <a:xfrm>
            <a:off x="6675120" y="46177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AST, ALT, ALP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8"/>
          <p:cNvSpPr/>
          <p:nvPr/>
        </p:nvSpPr>
        <p:spPr>
          <a:xfrm>
            <a:off x="6400800" y="5120640"/>
            <a:ext cx="136800" cy="73116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6675120" y="51206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Genel biyokimya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0"/>
          <p:cNvSpPr/>
          <p:nvPr/>
        </p:nvSpPr>
        <p:spPr>
          <a:xfrm>
            <a:off x="6675120" y="54406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CRP, Vitamin D, glukoz, kreatinin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1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2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3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Sınıf Dağılımı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0" descr="/home/claude/sekil1_sinif_dagilimi.png"/>
          <p:cNvPicPr/>
          <p:nvPr/>
        </p:nvPicPr>
        <p:blipFill>
          <a:blip r:embed="rId1"/>
          <a:stretch/>
        </p:blipFill>
        <p:spPr>
          <a:xfrm>
            <a:off x="640080" y="1371600"/>
            <a:ext cx="64004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3"/>
          <p:cNvSpPr/>
          <p:nvPr/>
        </p:nvSpPr>
        <p:spPr>
          <a:xfrm>
            <a:off x="7498080" y="155448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Dengeli Veri Seti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7498080" y="2103120"/>
            <a:ext cx="41144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İki sınıf birbirine oldukça yakın sayıda kayda sahip.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→ Çoğunluk sınıfı tahmininden kaynaklı yapay yüksek doğruluk riski yok.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→ Stratified split ile veri dağılımı korundu.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Yöntem Akışı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365760" y="1828800"/>
            <a:ext cx="2239920" cy="1462680"/>
          </a:xfrm>
          <a:prstGeom prst="homePlate">
            <a:avLst>
              <a:gd name="adj" fmla="val 50000"/>
            </a:avLst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457200" y="21945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Veri Yükleme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457200" y="260604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F8F8"/>
                </a:solidFill>
                <a:effectLst/>
                <a:uFillTx/>
                <a:latin typeface="Calibri"/>
                <a:ea typeface="Calibri"/>
              </a:rPr>
              <a:t>pandas + openpyxl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6"/>
          <p:cNvSpPr/>
          <p:nvPr/>
        </p:nvSpPr>
        <p:spPr>
          <a:xfrm>
            <a:off x="2670120" y="1828800"/>
            <a:ext cx="2239920" cy="1462680"/>
          </a:xfrm>
          <a:prstGeom prst="homePlate">
            <a:avLst>
              <a:gd name="adj" fmla="val 50000"/>
            </a:avLst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2761560" y="21945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Ön İşleme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2761560" y="260604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F8F8"/>
                </a:solidFill>
                <a:effectLst/>
                <a:uFillTx/>
                <a:latin typeface="Calibri"/>
                <a:ea typeface="Calibri"/>
              </a:rPr>
              <a:t>Stratified 80/20 split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4974480" y="1828800"/>
            <a:ext cx="2239920" cy="1462680"/>
          </a:xfrm>
          <a:prstGeom prst="homePlate">
            <a:avLst>
              <a:gd name="adj" fmla="val 50000"/>
            </a:avLst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5065920" y="21945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Ölçekleme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5065920" y="260604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F8F8"/>
                </a:solidFill>
                <a:effectLst/>
                <a:uFillTx/>
                <a:latin typeface="Calibri"/>
                <a:ea typeface="Calibri"/>
              </a:rPr>
              <a:t>StandardScaler (gerekli yerde)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"/>
          <p:cNvSpPr/>
          <p:nvPr/>
        </p:nvSpPr>
        <p:spPr>
          <a:xfrm>
            <a:off x="7278480" y="1828800"/>
            <a:ext cx="2239920" cy="1462680"/>
          </a:xfrm>
          <a:prstGeom prst="homePlate">
            <a:avLst>
              <a:gd name="adj" fmla="val 50000"/>
            </a:avLst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7369920" y="21945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4. Model Eğitimi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7369920" y="260604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10 algoritma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9582840" y="1828800"/>
            <a:ext cx="2239920" cy="1462680"/>
          </a:xfrm>
          <a:prstGeom prst="homePlate">
            <a:avLst>
              <a:gd name="adj" fmla="val 50000"/>
            </a:avLst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9674280" y="21945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 Değerlendirme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9674280" y="260604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F8F8"/>
                </a:solidFill>
                <a:effectLst/>
                <a:uFillTx/>
                <a:latin typeface="Calibri"/>
                <a:ea typeface="Calibri"/>
              </a:rPr>
              <a:t>5 metrik + CV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640080" y="4114800"/>
            <a:ext cx="10972440" cy="1645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914400" y="42519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⭐ ÖZGÜN KATKILARIMIZ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914400" y="466344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✓ 5-Katlı Stratified CV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Modellerin varyansını ölçer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4572000" y="466344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✓ GridSearchCV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Hiperparametre araması (LR, RF, MLP)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8229600" y="466344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✓ SHAP Analizi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Yorumlanabilir AI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Karşılaştırılan 10 Algoritma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640080" y="137160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777240" y="150876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5087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463040" y="1463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Rastgele Orman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1463040" y="1828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Topluluk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5166360" y="164592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3FA7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5166360" y="164592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ham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6309360" y="137160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6446520" y="150876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6446520" y="15087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7132320" y="1463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Karar Ağacı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7132320" y="1828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Tek ağaç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10835640" y="164592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3FA7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10835640" y="164592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ham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640080" y="233172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8"/>
          <p:cNvSpPr/>
          <p:nvPr/>
        </p:nvSpPr>
        <p:spPr>
          <a:xfrm>
            <a:off x="777240" y="246888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9"/>
          <p:cNvSpPr/>
          <p:nvPr/>
        </p:nvSpPr>
        <p:spPr>
          <a:xfrm>
            <a:off x="7772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1463040" y="24231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Gradyan Artırma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1463040" y="2788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Topluluk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2"/>
          <p:cNvSpPr/>
          <p:nvPr/>
        </p:nvSpPr>
        <p:spPr>
          <a:xfrm>
            <a:off x="5166360" y="260604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3FA7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5166360" y="26060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ham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4"/>
          <p:cNvSpPr/>
          <p:nvPr/>
        </p:nvSpPr>
        <p:spPr>
          <a:xfrm>
            <a:off x="6309360" y="233172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5"/>
          <p:cNvSpPr/>
          <p:nvPr/>
        </p:nvSpPr>
        <p:spPr>
          <a:xfrm>
            <a:off x="6446520" y="246888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6"/>
          <p:cNvSpPr/>
          <p:nvPr/>
        </p:nvSpPr>
        <p:spPr>
          <a:xfrm>
            <a:off x="644652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7"/>
          <p:cNvSpPr/>
          <p:nvPr/>
        </p:nvSpPr>
        <p:spPr>
          <a:xfrm>
            <a:off x="7132320" y="24231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K-En Yakın Komşu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8"/>
          <p:cNvSpPr/>
          <p:nvPr/>
        </p:nvSpPr>
        <p:spPr>
          <a:xfrm>
            <a:off x="7132320" y="2788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Mesafe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9"/>
          <p:cNvSpPr/>
          <p:nvPr/>
        </p:nvSpPr>
        <p:spPr>
          <a:xfrm>
            <a:off x="10835640" y="260604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0"/>
          <p:cNvSpPr/>
          <p:nvPr/>
        </p:nvSpPr>
        <p:spPr>
          <a:xfrm>
            <a:off x="10835640" y="26060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ölçekli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1"/>
          <p:cNvSpPr/>
          <p:nvPr/>
        </p:nvSpPr>
        <p:spPr>
          <a:xfrm>
            <a:off x="640080" y="329184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2"/>
          <p:cNvSpPr/>
          <p:nvPr/>
        </p:nvSpPr>
        <p:spPr>
          <a:xfrm>
            <a:off x="777240" y="342900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3"/>
          <p:cNvSpPr/>
          <p:nvPr/>
        </p:nvSpPr>
        <p:spPr>
          <a:xfrm>
            <a:off x="777240" y="3429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4"/>
          <p:cNvSpPr/>
          <p:nvPr/>
        </p:nvSpPr>
        <p:spPr>
          <a:xfrm>
            <a:off x="1463040" y="3383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Lojistik Regresyon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5"/>
          <p:cNvSpPr/>
          <p:nvPr/>
        </p:nvSpPr>
        <p:spPr>
          <a:xfrm>
            <a:off x="1463040" y="3749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Doğrusal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6"/>
          <p:cNvSpPr/>
          <p:nvPr/>
        </p:nvSpPr>
        <p:spPr>
          <a:xfrm>
            <a:off x="5166360" y="356616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7"/>
          <p:cNvSpPr/>
          <p:nvPr/>
        </p:nvSpPr>
        <p:spPr>
          <a:xfrm>
            <a:off x="5166360" y="35661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ölçekli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8"/>
          <p:cNvSpPr/>
          <p:nvPr/>
        </p:nvSpPr>
        <p:spPr>
          <a:xfrm>
            <a:off x="6309360" y="329184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9"/>
          <p:cNvSpPr/>
          <p:nvPr/>
        </p:nvSpPr>
        <p:spPr>
          <a:xfrm>
            <a:off x="6446520" y="342900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0"/>
          <p:cNvSpPr/>
          <p:nvPr/>
        </p:nvSpPr>
        <p:spPr>
          <a:xfrm>
            <a:off x="6446520" y="3429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1"/>
          <p:cNvSpPr/>
          <p:nvPr/>
        </p:nvSpPr>
        <p:spPr>
          <a:xfrm>
            <a:off x="7132320" y="3383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Eşikli Lin. Regresyon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2"/>
          <p:cNvSpPr/>
          <p:nvPr/>
        </p:nvSpPr>
        <p:spPr>
          <a:xfrm>
            <a:off x="7132320" y="3749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Doğrusal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3"/>
          <p:cNvSpPr/>
          <p:nvPr/>
        </p:nvSpPr>
        <p:spPr>
          <a:xfrm>
            <a:off x="10835640" y="356616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4"/>
          <p:cNvSpPr/>
          <p:nvPr/>
        </p:nvSpPr>
        <p:spPr>
          <a:xfrm>
            <a:off x="10835640" y="35661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ölçekli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5"/>
          <p:cNvSpPr/>
          <p:nvPr/>
        </p:nvSpPr>
        <p:spPr>
          <a:xfrm>
            <a:off x="640080" y="425196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6"/>
          <p:cNvSpPr/>
          <p:nvPr/>
        </p:nvSpPr>
        <p:spPr>
          <a:xfrm>
            <a:off x="777240" y="438912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7"/>
          <p:cNvSpPr/>
          <p:nvPr/>
        </p:nvSpPr>
        <p:spPr>
          <a:xfrm>
            <a:off x="777240" y="4389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8"/>
          <p:cNvSpPr/>
          <p:nvPr/>
        </p:nvSpPr>
        <p:spPr>
          <a:xfrm>
            <a:off x="1463040" y="43434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Naive Bayes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9"/>
          <p:cNvSpPr/>
          <p:nvPr/>
        </p:nvSpPr>
        <p:spPr>
          <a:xfrm>
            <a:off x="1463040" y="470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Olasılıksal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50"/>
          <p:cNvSpPr/>
          <p:nvPr/>
        </p:nvSpPr>
        <p:spPr>
          <a:xfrm>
            <a:off x="5166360" y="452628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3FA7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1"/>
          <p:cNvSpPr/>
          <p:nvPr/>
        </p:nvSpPr>
        <p:spPr>
          <a:xfrm>
            <a:off x="5166360" y="452628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ham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2"/>
          <p:cNvSpPr/>
          <p:nvPr/>
        </p:nvSpPr>
        <p:spPr>
          <a:xfrm>
            <a:off x="6309360" y="425196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53"/>
          <p:cNvSpPr/>
          <p:nvPr/>
        </p:nvSpPr>
        <p:spPr>
          <a:xfrm>
            <a:off x="6446520" y="438912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4"/>
          <p:cNvSpPr/>
          <p:nvPr/>
        </p:nvSpPr>
        <p:spPr>
          <a:xfrm>
            <a:off x="6446520" y="4389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5"/>
          <p:cNvSpPr/>
          <p:nvPr/>
        </p:nvSpPr>
        <p:spPr>
          <a:xfrm>
            <a:off x="7132320" y="43434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Destek Vektör Mak.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6"/>
          <p:cNvSpPr/>
          <p:nvPr/>
        </p:nvSpPr>
        <p:spPr>
          <a:xfrm>
            <a:off x="7132320" y="470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Marjin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57"/>
          <p:cNvSpPr/>
          <p:nvPr/>
        </p:nvSpPr>
        <p:spPr>
          <a:xfrm>
            <a:off x="10835640" y="452628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8"/>
          <p:cNvSpPr/>
          <p:nvPr/>
        </p:nvSpPr>
        <p:spPr>
          <a:xfrm>
            <a:off x="10835640" y="452628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ölçekli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9"/>
          <p:cNvSpPr/>
          <p:nvPr/>
        </p:nvSpPr>
        <p:spPr>
          <a:xfrm>
            <a:off x="640080" y="521208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0"/>
          <p:cNvSpPr/>
          <p:nvPr/>
        </p:nvSpPr>
        <p:spPr>
          <a:xfrm>
            <a:off x="777240" y="534924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1"/>
          <p:cNvSpPr/>
          <p:nvPr/>
        </p:nvSpPr>
        <p:spPr>
          <a:xfrm>
            <a:off x="777240" y="5349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2"/>
          <p:cNvSpPr/>
          <p:nvPr/>
        </p:nvSpPr>
        <p:spPr>
          <a:xfrm>
            <a:off x="1463040" y="53035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Yapay Sinir Ağı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3"/>
          <p:cNvSpPr/>
          <p:nvPr/>
        </p:nvSpPr>
        <p:spPr>
          <a:xfrm>
            <a:off x="1463040" y="5669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Sinir ağı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64"/>
          <p:cNvSpPr/>
          <p:nvPr/>
        </p:nvSpPr>
        <p:spPr>
          <a:xfrm>
            <a:off x="5166360" y="548640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5"/>
          <p:cNvSpPr/>
          <p:nvPr/>
        </p:nvSpPr>
        <p:spPr>
          <a:xfrm>
            <a:off x="5166360" y="54864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ölçekli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66"/>
          <p:cNvSpPr/>
          <p:nvPr/>
        </p:nvSpPr>
        <p:spPr>
          <a:xfrm>
            <a:off x="6309360" y="5212080"/>
            <a:ext cx="5394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67"/>
          <p:cNvSpPr/>
          <p:nvPr/>
        </p:nvSpPr>
        <p:spPr>
          <a:xfrm>
            <a:off x="6446520" y="5349240"/>
            <a:ext cx="548280" cy="54828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8"/>
          <p:cNvSpPr/>
          <p:nvPr/>
        </p:nvSpPr>
        <p:spPr>
          <a:xfrm>
            <a:off x="6446520" y="5349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9"/>
          <p:cNvSpPr/>
          <p:nvPr/>
        </p:nvSpPr>
        <p:spPr>
          <a:xfrm>
            <a:off x="7132320" y="53035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1B CNN (PyTorch)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0"/>
          <p:cNvSpPr/>
          <p:nvPr/>
        </p:nvSpPr>
        <p:spPr>
          <a:xfrm>
            <a:off x="7132320" y="5669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Derin öğrenme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71"/>
          <p:cNvSpPr/>
          <p:nvPr/>
        </p:nvSpPr>
        <p:spPr>
          <a:xfrm>
            <a:off x="10835640" y="5486400"/>
            <a:ext cx="776880" cy="273960"/>
          </a:xfrm>
          <a:prstGeom prst="roundRect">
            <a:avLst>
              <a:gd name="adj" fmla="val 16667"/>
            </a:avLst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2"/>
          <p:cNvSpPr/>
          <p:nvPr/>
        </p:nvSpPr>
        <p:spPr>
          <a:xfrm>
            <a:off x="10835640" y="54864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ölçekli</a:t>
            </a:r>
            <a:endParaRPr lang="en-T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73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4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5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Test Kümesi Sonuçları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3" name="Table 0"/>
          <p:cNvGraphicFramePr/>
          <p:nvPr/>
        </p:nvGraphicFramePr>
        <p:xfrm>
          <a:off x="640080" y="1280160"/>
          <a:ext cx="10972440" cy="42242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Algoritma</a:t>
                      </a:r>
                      <a:endParaRPr lang="en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Doğruluk</a:t>
                      </a:r>
                      <a:endParaRPr lang="en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Kesinlik</a:t>
                      </a:r>
                      <a:endParaRPr lang="en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Duyarlılık</a:t>
                      </a:r>
                      <a:endParaRPr lang="en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</a:t>
                      </a:r>
                      <a:endParaRPr lang="en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ROC-AUC</a:t>
                      </a:r>
                      <a:endParaRPr lang="en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0E5E6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Yapay Sinir Ağı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0.7812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0.8000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0.7500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0.7742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0.8750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FFF3CD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Lojistik Regresyon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D1EC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0.7656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0.7179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0.8750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D1EC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0.7887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0.8770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solidFill>
                      <a:srgbClr val="D1ECF1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Eşikli Lineer Reg.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0.7500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0.7105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0.8438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0.7714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0.8398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Gradyan Artırma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0.7500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0.7222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0.8125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0.7647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0.8262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Rastgele Orman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0.7344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0.7273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0.7500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0.7385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0.8340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Destek Vektör Makinesi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0.7188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0.7059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0.7500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0.7273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0.8008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CNN (1B)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0.6406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0.6452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0.6250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0.6349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0.6660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Karar Ağacı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0.6250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0.6250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0.6250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0.6250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0.6333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K-En Yakın Komşu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0.6094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0.5714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0.8750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0.6914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0.7148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Naive Bayes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0.5469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0.5246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1.0000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0.6882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0.6875</a:t>
                      </a:r>
                      <a:endParaRPr lang="en-T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DDDDD"/>
                      </a:solidFill>
                      <a:prstDash val="solid"/>
                    </a:lnL>
                    <a:lnR w="12240">
                      <a:solidFill>
                        <a:srgbClr val="DDDDDD"/>
                      </a:solidFill>
                      <a:prstDash val="solid"/>
                    </a:lnR>
                    <a:lnT w="12240">
                      <a:solidFill>
                        <a:srgbClr val="DDDDDD"/>
                      </a:solidFill>
                      <a:prstDash val="solid"/>
                    </a:lnT>
                    <a:lnB w="1224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4" name="Text 3"/>
          <p:cNvSpPr/>
          <p:nvPr/>
        </p:nvSpPr>
        <p:spPr>
          <a:xfrm>
            <a:off x="640080" y="62636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🟡 En yüksek doğruluk: YSA   |   🔵 En yüksek duyarlılık &amp; ROC-AUC: Lojistik Regresyon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Model Performans Karşılaştırması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/home/claude/sekil2_model_karsilastirma.png"/>
          <p:cNvPicPr/>
          <p:nvPr/>
        </p:nvPicPr>
        <p:blipFill>
          <a:blip r:embed="rId1"/>
          <a:stretch/>
        </p:blipFill>
        <p:spPr>
          <a:xfrm>
            <a:off x="457200" y="1280160"/>
            <a:ext cx="777204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Shape 3"/>
          <p:cNvSpPr/>
          <p:nvPr/>
        </p:nvSpPr>
        <p:spPr>
          <a:xfrm>
            <a:off x="8503920" y="1371600"/>
            <a:ext cx="3291480" cy="4937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8686800" y="15544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Öne Çıkan Bulgular</a:t>
            </a:r>
            <a:endParaRPr lang="en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8686800" y="2011680"/>
            <a:ext cx="30171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▸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YSA en yüksek doğruluk (%78.1)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T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▸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Doğrusal modeller şaşırtıcı şekilde rekabetçi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T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▸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CNN tabular veriye uygun değil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T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▸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İlk 6 model %71.9 üzerinde kümelendi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T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▸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Naive Bayes düşük performans (sınıf bağımsızlığı varsayımı)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ROC Eğrileri ve Klinik Bağlam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0" descr="/home/claude/sekil5_roc_egrileri.png"/>
          <p:cNvPicPr/>
          <p:nvPr/>
        </p:nvPicPr>
        <p:blipFill>
          <a:blip r:embed="rId1"/>
          <a:stretch/>
        </p:blipFill>
        <p:spPr>
          <a:xfrm>
            <a:off x="457200" y="1371600"/>
            <a:ext cx="621756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3"/>
          <p:cNvSpPr/>
          <p:nvPr/>
        </p:nvSpPr>
        <p:spPr>
          <a:xfrm>
            <a:off x="6858000" y="14630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Klinik Tarama Perspektifi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6858000" y="2011680"/>
            <a:ext cx="4937400" cy="1462680"/>
          </a:xfrm>
          <a:prstGeom prst="roundRect">
            <a:avLst>
              <a:gd name="adj" fmla="val 6250"/>
            </a:avLst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7040880" y="2148840"/>
            <a:ext cx="4571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Yanlış Negatif Maliyeti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T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Hasta birini sağlıklı diye geri çevirmek, sağlıklı birini yeniden test etmekten çok daha riskli.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6858000" y="3657600"/>
            <a:ext cx="50288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Bu yüzden Lojistik Regresyon klinik tarama için en güçlü adaydır:</a:t>
            </a:r>
            <a:endParaRPr lang="en-T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T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✓ Duyarlılık: %87.50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✓ ROC-AUC: 0.8770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✓ Sadece 4 yanlış negatif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En Etkili Klinik Değişkenler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0" descr="/home/claude/sekil3_ozellik_onem.png"/>
          <p:cNvPicPr/>
          <p:nvPr/>
        </p:nvPicPr>
        <p:blipFill>
          <a:blip r:embed="rId1"/>
          <a:stretch/>
        </p:blipFill>
        <p:spPr>
          <a:xfrm>
            <a:off x="365760" y="1280160"/>
            <a:ext cx="685764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3"/>
          <p:cNvSpPr/>
          <p:nvPr/>
        </p:nvSpPr>
        <p:spPr>
          <a:xfrm>
            <a:off x="7498080" y="146304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İlk 3 Değişken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4"/>
          <p:cNvSpPr/>
          <p:nvPr/>
        </p:nvSpPr>
        <p:spPr>
          <a:xfrm>
            <a:off x="7498080" y="2011680"/>
            <a:ext cx="429732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7589520" y="21031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#1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6"/>
          <p:cNvSpPr/>
          <p:nvPr/>
        </p:nvSpPr>
        <p:spPr>
          <a:xfrm>
            <a:off x="8138160" y="21031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CRP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10424160" y="210312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0.189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7589520" y="260604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Sistemik inflamasyon belirteci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9"/>
          <p:cNvSpPr/>
          <p:nvPr/>
        </p:nvSpPr>
        <p:spPr>
          <a:xfrm>
            <a:off x="7498080" y="3383280"/>
            <a:ext cx="429732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7589520" y="34747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#2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1"/>
          <p:cNvSpPr/>
          <p:nvPr/>
        </p:nvSpPr>
        <p:spPr>
          <a:xfrm>
            <a:off x="8138160" y="3474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Vitamin D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10424160" y="347472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0.089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7589520" y="397764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Safra metabolizmasıyla ilişkili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4"/>
          <p:cNvSpPr/>
          <p:nvPr/>
        </p:nvSpPr>
        <p:spPr>
          <a:xfrm>
            <a:off x="7498080" y="4754880"/>
            <a:ext cx="429732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7589520" y="48463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C94C"/>
                </a:solidFill>
                <a:effectLst/>
                <a:uFillTx/>
                <a:latin typeface="Calibri"/>
                <a:ea typeface="Calibri"/>
              </a:rPr>
              <a:t>#3</a:t>
            </a:r>
            <a:endParaRPr lang="en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6"/>
          <p:cNvSpPr/>
          <p:nvPr/>
        </p:nvSpPr>
        <p:spPr>
          <a:xfrm>
            <a:off x="8138160" y="48463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AST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7"/>
          <p:cNvSpPr/>
          <p:nvPr/>
        </p:nvSpPr>
        <p:spPr>
          <a:xfrm>
            <a:off x="10424160" y="484632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0.041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8"/>
          <p:cNvSpPr/>
          <p:nvPr/>
        </p:nvSpPr>
        <p:spPr>
          <a:xfrm>
            <a:off x="7589520" y="534924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Karaciğer fonksiyon belirteci</a:t>
            </a:r>
            <a:endParaRPr lang="en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9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0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1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365760" y="365760"/>
            <a:ext cx="109440" cy="594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640080" y="320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Sonuç ve Öneriler</a:t>
            </a:r>
            <a:endParaRPr lang="en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365760" y="1051560"/>
            <a:ext cx="11430000" cy="360"/>
          </a:xfrm>
          <a:prstGeom prst="line">
            <a:avLst/>
          </a:prstGeom>
          <a:ln w="15240">
            <a:solidFill>
              <a:srgbClr val="3FA7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640080" y="12801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i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Bu çalışmadan ne çıkardık?</a:t>
            </a:r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731520" y="1920240"/>
            <a:ext cx="639720" cy="63972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731520" y="19202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1554480" y="19659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Görüntüleme dışı tahmin mümkün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1554480" y="23317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Rutin biyokimya verileriyle %78+ doğruluk.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731520" y="2880360"/>
            <a:ext cx="639720" cy="63972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731520" y="28803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1554480" y="29260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Model seçimi bağlama bağlı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1554480" y="32918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YSA doğruluk için, Lojistik Reg. tarama için.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2"/>
          <p:cNvSpPr/>
          <p:nvPr/>
        </p:nvSpPr>
        <p:spPr>
          <a:xfrm>
            <a:off x="731520" y="3840480"/>
            <a:ext cx="639720" cy="639720"/>
          </a:xfrm>
          <a:prstGeom prst="ellipse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3"/>
          <p:cNvSpPr/>
          <p:nvPr/>
        </p:nvSpPr>
        <p:spPr>
          <a:xfrm>
            <a:off x="731520" y="38404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1554480" y="38862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Üç değişken belirleyici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5"/>
          <p:cNvSpPr/>
          <p:nvPr/>
        </p:nvSpPr>
        <p:spPr>
          <a:xfrm>
            <a:off x="1554480" y="42519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CRP, Vitamin D ve AST — literatürle uyumlu.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6"/>
          <p:cNvSpPr/>
          <p:nvPr/>
        </p:nvSpPr>
        <p:spPr>
          <a:xfrm>
            <a:off x="731520" y="4800600"/>
            <a:ext cx="639720" cy="639720"/>
          </a:xfrm>
          <a:prstGeom prst="ellipse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7"/>
          <p:cNvSpPr/>
          <p:nvPr/>
        </p:nvSpPr>
        <p:spPr>
          <a:xfrm>
            <a:off x="731520" y="48006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T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8"/>
          <p:cNvSpPr/>
          <p:nvPr/>
        </p:nvSpPr>
        <p:spPr>
          <a:xfrm>
            <a:off x="1554480" y="4846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5E6F"/>
                </a:solidFill>
                <a:effectLst/>
                <a:uFillTx/>
                <a:latin typeface="Calibri"/>
                <a:ea typeface="Calibri"/>
              </a:rPr>
              <a:t>Gelecek çalışmalar</a:t>
            </a:r>
            <a:endParaRPr lang="en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9"/>
          <p:cNvSpPr/>
          <p:nvPr/>
        </p:nvSpPr>
        <p:spPr>
          <a:xfrm>
            <a:off x="1554480" y="52120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Harici doğrulama, daha geniş hiperparametre arama, az değişkenli sade model.</a:t>
            </a:r>
            <a:endParaRPr lang="en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0"/>
          <p:cNvSpPr/>
          <p:nvPr/>
        </p:nvSpPr>
        <p:spPr>
          <a:xfrm>
            <a:off x="0" y="6583680"/>
            <a:ext cx="12161160" cy="273960"/>
          </a:xfrm>
          <a:prstGeom prst="rect">
            <a:avLst/>
          </a:prstGeom>
          <a:solidFill>
            <a:srgbClr val="0E5E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1"/>
          <p:cNvSpPr/>
          <p:nvPr/>
        </p:nvSpPr>
        <p:spPr>
          <a:xfrm>
            <a:off x="365760" y="660204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Safra Taşı ML Projesi  |  Gazi Üniversitesi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2"/>
          <p:cNvSpPr/>
          <p:nvPr/>
        </p:nvSpPr>
        <p:spPr>
          <a:xfrm>
            <a:off x="11338560" y="660204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13 / 14</a:t>
            </a:r>
            <a:endParaRPr lang="en-T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0" y="0"/>
            <a:ext cx="12161160" cy="16416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457200" y="2286000"/>
            <a:ext cx="11246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TEŞEKKÜRLER</a:t>
            </a:r>
            <a:endParaRPr lang="en-T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5166360" y="3611880"/>
            <a:ext cx="1828800" cy="360"/>
          </a:xfrm>
          <a:prstGeom prst="line">
            <a:avLst/>
          </a:prstGeom>
          <a:ln w="2540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457200" y="384048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914400" y="502920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Emirhan FIRTINA</a:t>
            </a:r>
            <a:endParaRPr lang="en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24181616030@gazi.edu.tr</a:t>
            </a:r>
            <a:endParaRPr lang="en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6217920" y="502920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Mehmet Akif SOYSAL</a:t>
            </a:r>
            <a:endParaRPr lang="en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A796"/>
                </a:solidFill>
                <a:effectLst/>
                <a:uFillTx/>
                <a:latin typeface="Calibri"/>
                <a:ea typeface="Calibri"/>
              </a:rPr>
              <a:t>24181617005@gazi.edu.tr</a:t>
            </a:r>
            <a:endParaRPr lang="en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457200" y="630936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Gazi Üniversitesi  |  Bilgisayar Mühendisliği  |  Makine Öğrenmesi  |  2026</a:t>
            </a:r>
            <a:endParaRPr lang="en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LibreOffice/26.2.0.3$MacOSX_AARCH64 LibreOffice_project/afbbd0df0edb6d40b450b0337ac646b0913a760c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2026-05-03T20:24:08Z</dcterms:created>
  <dc:creator>Emirhan FIRTINA &amp; Mehmet Akif SOYSAL</dc:creator>
  <dc:description/>
  <dc:language>en-TR</dc:language>
  <cp:lastModifiedBy/>
  <dcterms:modified xsi:type="dcterms:W3CDTF">2026-05-04T13:10:54Z</dcterms:modified>
  <cp:revision>2</cp:revision>
  <dc:subject>PptxGenJS Presentation</dc:subject>
  <dc:title>Safra Taşı ML Projesi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